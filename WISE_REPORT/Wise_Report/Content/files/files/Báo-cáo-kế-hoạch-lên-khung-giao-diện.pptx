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70" r:id="rId4"/>
    <p:sldId id="271" r:id="rId5"/>
    <p:sldId id="273" r:id="rId6"/>
    <p:sldId id="274" r:id="rId7"/>
    <p:sldId id="275" r:id="rId8"/>
    <p:sldId id="276" r:id="rId9"/>
    <p:sldId id="260" r:id="rId10"/>
    <p:sldId id="259" r:id="rId11"/>
    <p:sldId id="261" r:id="rId12"/>
    <p:sldId id="262" r:id="rId13"/>
    <p:sldId id="263" r:id="rId14"/>
    <p:sldId id="264" r:id="rId15"/>
    <p:sldId id="265" r:id="rId16"/>
    <p:sldId id="266" r:id="rId17"/>
    <p:sldId id="267" r:id="rId18"/>
    <p:sldId id="26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guyễn Minh Hiếu" initials="NMH" lastIdx="1" clrIdx="0">
    <p:extLst>
      <p:ext uri="{19B8F6BF-5375-455C-9EA6-DF929625EA0E}">
        <p15:presenceInfo xmlns:p15="http://schemas.microsoft.com/office/powerpoint/2012/main" userId="S-1-5-21-2351491376-1985060867-2373854202-117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4" d="100"/>
          <a:sy n="114" d="100"/>
        </p:scale>
        <p:origin x="41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740DF-0029-4C80-85BB-06F2EEED0E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A2F5E67-0A06-4E38-973F-164CC6C30EE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67F96BD-82E1-402B-A9D0-566C18E9707B}"/>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5" name="Footer Placeholder 4">
            <a:extLst>
              <a:ext uri="{FF2B5EF4-FFF2-40B4-BE49-F238E27FC236}">
                <a16:creationId xmlns:a16="http://schemas.microsoft.com/office/drawing/2014/main" id="{F1984BEE-EE7C-4DFC-8402-17B85AB0D2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202CE-5F7F-4A9C-A876-667F0478B3FB}"/>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22006969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6295B-005C-4AE8-9CB2-9B6B45903C8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FA5D054-C0C4-479B-8B89-696490363A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007B0F-2237-4065-9298-C49532C833D3}"/>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5" name="Footer Placeholder 4">
            <a:extLst>
              <a:ext uri="{FF2B5EF4-FFF2-40B4-BE49-F238E27FC236}">
                <a16:creationId xmlns:a16="http://schemas.microsoft.com/office/drawing/2014/main" id="{881B07BC-50E5-4F8F-97AF-3BDDB27F65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03B3112-2784-4276-A04E-B45DB485C6AF}"/>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3956071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5B64A-2E18-47F5-BEA7-D643472E24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5512233-000E-4710-8619-4BB65DAE888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9A1A157-0E78-4CE1-A7C1-B612049554A9}"/>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5" name="Footer Placeholder 4">
            <a:extLst>
              <a:ext uri="{FF2B5EF4-FFF2-40B4-BE49-F238E27FC236}">
                <a16:creationId xmlns:a16="http://schemas.microsoft.com/office/drawing/2014/main" id="{C8577BA5-E9AD-4443-AC47-7F2FDCAC39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23CDBA-89EB-4B3A-8BBE-DD92BF76008B}"/>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36525346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157EB-5389-419C-8CDE-65AAC2931DA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84BE690-92C2-4DE8-BD2D-41D1BE6418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FA931C3-EC43-45DA-A6C0-4650B97921A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6701274-D7F3-4830-965F-85422294385E}"/>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6" name="Footer Placeholder 5">
            <a:extLst>
              <a:ext uri="{FF2B5EF4-FFF2-40B4-BE49-F238E27FC236}">
                <a16:creationId xmlns:a16="http://schemas.microsoft.com/office/drawing/2014/main" id="{1FA6FF6F-0926-4BA8-BB29-E9A55AC79F7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B1630D-2B81-4C3C-88CD-298345C8E74D}"/>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2033374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733F9D-A6DB-4CBE-9A9C-51EA6F50AD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EB28BD9-159D-436D-9CC2-54484EBB97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4B3BCFA-9226-4375-A935-F06DC5B234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2B761-F1B0-4B8D-B547-55645035E1D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831B57F-8DD6-441C-861C-3A2A6ABEFF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A94AB-6095-405A-9109-F9323D8352F8}"/>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8" name="Footer Placeholder 7">
            <a:extLst>
              <a:ext uri="{FF2B5EF4-FFF2-40B4-BE49-F238E27FC236}">
                <a16:creationId xmlns:a16="http://schemas.microsoft.com/office/drawing/2014/main" id="{06F17511-A6C3-41F7-80ED-CB6E2A1108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196B51-9F63-4DB5-BA40-7CE396BD8353}"/>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38536068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6B849-6A58-464E-BAF8-D4BD4C51706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FC67BF-E120-40F9-BD92-1876C925348C}"/>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4" name="Footer Placeholder 3">
            <a:extLst>
              <a:ext uri="{FF2B5EF4-FFF2-40B4-BE49-F238E27FC236}">
                <a16:creationId xmlns:a16="http://schemas.microsoft.com/office/drawing/2014/main" id="{FC5ADE5B-E5D8-4169-A639-ECA078D515C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2262A8-00FF-45A0-AC5F-7656BA89797D}"/>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3190803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E7FB9C-00ED-4A87-BE65-0D8B36B3E711}"/>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3" name="Footer Placeholder 2">
            <a:extLst>
              <a:ext uri="{FF2B5EF4-FFF2-40B4-BE49-F238E27FC236}">
                <a16:creationId xmlns:a16="http://schemas.microsoft.com/office/drawing/2014/main" id="{017C6D2F-3FBB-466D-AD26-57AC63188B6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91CEF8-E955-4784-BB5F-562A4FA5A9A0}"/>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1432486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D8C175-6C4F-4688-A4E4-7175D423B9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60A4CF0-E9BF-435B-B066-326B442CD05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873B34-3E90-4E88-B095-F7BEC85D09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122D3F-4178-45AE-9D91-C6757B82C290}"/>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6" name="Footer Placeholder 5">
            <a:extLst>
              <a:ext uri="{FF2B5EF4-FFF2-40B4-BE49-F238E27FC236}">
                <a16:creationId xmlns:a16="http://schemas.microsoft.com/office/drawing/2014/main" id="{535CEEAA-AF70-4342-A184-3A9046BBAB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0B69E7-C7EA-43A8-9562-AD73F7BC5251}"/>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1721543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E4F0D5-097D-45F2-A186-5DF7EFAEBE3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DA4FDCD-D78A-4F27-A183-0BDD2EC8DC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B4B43E1-B893-453D-B638-A389A27D97A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AAA1FFB-B461-4550-BD2E-D14A8B2EA662}"/>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6" name="Footer Placeholder 5">
            <a:extLst>
              <a:ext uri="{FF2B5EF4-FFF2-40B4-BE49-F238E27FC236}">
                <a16:creationId xmlns:a16="http://schemas.microsoft.com/office/drawing/2014/main" id="{488FD936-67B5-4DCB-A4BF-507C113CD0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0540F8-0D13-4860-850B-B86C92C4773E}"/>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5444497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B2CDF-D188-4A77-BEC0-0A0D78EA6F3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9C71CB3-F562-4456-B9EE-83D8C6F0B27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DC5488-1628-45FE-9383-E370F052CCCA}"/>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5" name="Footer Placeholder 4">
            <a:extLst>
              <a:ext uri="{FF2B5EF4-FFF2-40B4-BE49-F238E27FC236}">
                <a16:creationId xmlns:a16="http://schemas.microsoft.com/office/drawing/2014/main" id="{06C9079A-3282-452B-A126-5AC3642F64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E4428C-FF8F-4746-9BE2-6F8ED546F9D0}"/>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52192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5DEC01-811E-46D0-80C2-B29E312944E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F08CC8A-244D-4349-B66C-E4C7D95EA7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306E597-E1B9-441F-B7C0-FE7B4E0569FA}"/>
              </a:ext>
            </a:extLst>
          </p:cNvPr>
          <p:cNvSpPr>
            <a:spLocks noGrp="1"/>
          </p:cNvSpPr>
          <p:nvPr>
            <p:ph type="dt" sz="half" idx="10"/>
          </p:nvPr>
        </p:nvSpPr>
        <p:spPr/>
        <p:txBody>
          <a:bodyPr/>
          <a:lstStyle/>
          <a:p>
            <a:fld id="{D9AC2478-F272-466A-B80B-F182DAE0AB9F}" type="datetimeFigureOut">
              <a:rPr lang="en-US" smtClean="0"/>
              <a:t>8/24/2020</a:t>
            </a:fld>
            <a:endParaRPr lang="en-US"/>
          </a:p>
        </p:txBody>
      </p:sp>
      <p:sp>
        <p:nvSpPr>
          <p:cNvPr id="5" name="Footer Placeholder 4">
            <a:extLst>
              <a:ext uri="{FF2B5EF4-FFF2-40B4-BE49-F238E27FC236}">
                <a16:creationId xmlns:a16="http://schemas.microsoft.com/office/drawing/2014/main" id="{D52C862C-2578-42F8-ABB6-AECDBE1025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4322A0-E11F-484F-8B89-5E94D2604A2E}"/>
              </a:ext>
            </a:extLst>
          </p:cNvPr>
          <p:cNvSpPr>
            <a:spLocks noGrp="1"/>
          </p:cNvSpPr>
          <p:nvPr>
            <p:ph type="sldNum" sz="quarter" idx="12"/>
          </p:nvPr>
        </p:nvSpPr>
        <p:spPr/>
        <p:txBody>
          <a:bodyPr/>
          <a:lstStyle/>
          <a:p>
            <a:fld id="{DD8FFBEF-6E7C-4321-A94D-6D540A32D7B0}" type="slidenum">
              <a:rPr lang="en-US" smtClean="0"/>
              <a:t>‹#›</a:t>
            </a:fld>
            <a:endParaRPr lang="en-US"/>
          </a:p>
        </p:txBody>
      </p:sp>
    </p:spTree>
    <p:extLst>
      <p:ext uri="{BB962C8B-B14F-4D97-AF65-F5344CB8AC3E}">
        <p14:creationId xmlns:p14="http://schemas.microsoft.com/office/powerpoint/2010/main" val="2370163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3E8D565-A355-42C1-AEFA-A90D0FEE06A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EA72790-E27C-4C25-BF0E-B581EFF756C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9455FF8-ED6F-47DB-88E4-CA2701EA94F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AC2478-F272-466A-B80B-F182DAE0AB9F}" type="datetimeFigureOut">
              <a:rPr lang="en-US" smtClean="0"/>
              <a:t>8/24/2020</a:t>
            </a:fld>
            <a:endParaRPr lang="en-US"/>
          </a:p>
        </p:txBody>
      </p:sp>
      <p:sp>
        <p:nvSpPr>
          <p:cNvPr id="5" name="Footer Placeholder 4">
            <a:extLst>
              <a:ext uri="{FF2B5EF4-FFF2-40B4-BE49-F238E27FC236}">
                <a16:creationId xmlns:a16="http://schemas.microsoft.com/office/drawing/2014/main" id="{EFA70C2F-0622-4D98-A345-434F232938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FAC8C3D-08BE-4777-AFFE-5FA0EEEE30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D8FFBEF-6E7C-4321-A94D-6D540A32D7B0}" type="slidenum">
              <a:rPr lang="en-US" smtClean="0"/>
              <a:t>‹#›</a:t>
            </a:fld>
            <a:endParaRPr lang="en-US"/>
          </a:p>
        </p:txBody>
      </p:sp>
    </p:spTree>
    <p:extLst>
      <p:ext uri="{BB962C8B-B14F-4D97-AF65-F5344CB8AC3E}">
        <p14:creationId xmlns:p14="http://schemas.microsoft.com/office/powerpoint/2010/main" val="1943993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gif"/><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gif"/><Relationship Id="rId4" Type="http://schemas.openxmlformats.org/officeDocument/2006/relationships/image" Target="../media/image21.gif"/></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30.png"/><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7B0F1-2E31-4996-A3F2-9F0925DA700A}"/>
              </a:ext>
            </a:extLst>
          </p:cNvPr>
          <p:cNvSpPr>
            <a:spLocks noGrp="1"/>
          </p:cNvSpPr>
          <p:nvPr>
            <p:ph type="ctrTitle"/>
          </p:nvPr>
        </p:nvSpPr>
        <p:spPr>
          <a:xfrm>
            <a:off x="905070" y="2773881"/>
            <a:ext cx="10683551" cy="1732804"/>
          </a:xfrm>
        </p:spPr>
        <p:txBody>
          <a:bodyPr>
            <a:noAutofit/>
          </a:bodyPr>
          <a:lstStyle/>
          <a:p>
            <a:r>
              <a:rPr lang="en-US" sz="6600">
                <a:solidFill>
                  <a:schemeClr val="accent1">
                    <a:lumMod val="75000"/>
                  </a:schemeClr>
                </a:solidFill>
                <a:latin typeface="Times New Roman" panose="02020603050405020304" pitchFamily="18" charset="0"/>
                <a:cs typeface="Times New Roman" panose="02020603050405020304" pitchFamily="18" charset="0"/>
              </a:rPr>
              <a:t>Báo cáo kế hoạch lên khung giao diện </a:t>
            </a:r>
          </a:p>
        </p:txBody>
      </p:sp>
      <p:pic>
        <p:nvPicPr>
          <p:cNvPr id="1032" name="Picture 8">
            <a:extLst>
              <a:ext uri="{FF2B5EF4-FFF2-40B4-BE49-F238E27FC236}">
                <a16:creationId xmlns:a16="http://schemas.microsoft.com/office/drawing/2014/main" id="{9062A077-5DB8-47C6-BFD8-6994DC2823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5070" y="798004"/>
            <a:ext cx="4556163" cy="159286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7C1C09C8-C4AB-4E67-9838-B0E6F325582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1444" y="696286"/>
            <a:ext cx="2426189" cy="1521957"/>
          </a:xfrm>
          <a:prstGeom prst="rect">
            <a:avLst/>
          </a:prstGeom>
        </p:spPr>
      </p:pic>
    </p:spTree>
    <p:extLst>
      <p:ext uri="{BB962C8B-B14F-4D97-AF65-F5344CB8AC3E}">
        <p14:creationId xmlns:p14="http://schemas.microsoft.com/office/powerpoint/2010/main" val="36396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0CAF-568B-4D0E-B239-D3CAB11DE0F9}"/>
              </a:ext>
            </a:extLst>
          </p:cNvPr>
          <p:cNvSpPr>
            <a:spLocks noGrp="1"/>
          </p:cNvSpPr>
          <p:nvPr>
            <p:ph type="title"/>
          </p:nvPr>
        </p:nvSpPr>
        <p:spPr>
          <a:xfrm>
            <a:off x="838200" y="250825"/>
            <a:ext cx="10515600" cy="803275"/>
          </a:xfrm>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Định nghĩa 1 giao diện chuẩn Fluent</a:t>
            </a:r>
          </a:p>
        </p:txBody>
      </p:sp>
      <p:sp>
        <p:nvSpPr>
          <p:cNvPr id="3" name="Content Placeholder 2">
            <a:extLst>
              <a:ext uri="{FF2B5EF4-FFF2-40B4-BE49-F238E27FC236}">
                <a16:creationId xmlns:a16="http://schemas.microsoft.com/office/drawing/2014/main" id="{7EB0833C-1343-48B6-9361-4CA2B7DB04A1}"/>
              </a:ext>
            </a:extLst>
          </p:cNvPr>
          <p:cNvSpPr>
            <a:spLocks noGrp="1"/>
          </p:cNvSpPr>
          <p:nvPr>
            <p:ph idx="1"/>
          </p:nvPr>
        </p:nvSpPr>
        <p:spPr>
          <a:xfrm>
            <a:off x="838200" y="1108074"/>
            <a:ext cx="10515600" cy="5749925"/>
          </a:xfrm>
        </p:spPr>
        <p:txBody>
          <a:bodyPr>
            <a:normAutofit/>
          </a:bodyPr>
          <a:lstStyle/>
          <a:p>
            <a:r>
              <a:rPr lang="en-US" sz="1600" b="1">
                <a:latin typeface="Times New Roman" panose="02020603050405020304" pitchFamily="18" charset="0"/>
                <a:cs typeface="Times New Roman" panose="02020603050405020304" pitchFamily="18" charset="0"/>
              </a:rPr>
              <a:t>1. Light ( ánh sáng)</a:t>
            </a:r>
          </a:p>
          <a:p>
            <a:pPr>
              <a:buFontTx/>
              <a:buChar char="-"/>
            </a:pPr>
            <a:r>
              <a:rPr lang="en-US" sz="1600">
                <a:latin typeface="Times New Roman" panose="02020603050405020304" pitchFamily="18" charset="0"/>
                <a:cs typeface="Times New Roman" panose="02020603050405020304" pitchFamily="18" charset="0"/>
              </a:rPr>
              <a:t>Ánh sáng là công cụ quan trọng để thu hút sự chú ý của người dung. Một nút bấm phát sáng có thể hướng dẫn cho người dùng cách sử dụng 1 ứng dụng, hoặc nhấn mạnh 1 tính năng của chương trình mà có thể người dùng chưa từng nghĩ đến nó</a:t>
            </a:r>
          </a:p>
          <a:p>
            <a:r>
              <a:rPr lang="en-US" sz="1600" b="1">
                <a:latin typeface="Times New Roman" panose="02020603050405020304" pitchFamily="18" charset="0"/>
                <a:cs typeface="Times New Roman" panose="02020603050405020304" pitchFamily="18" charset="0"/>
              </a:rPr>
              <a:t>2. Depth ( chiều sâu )</a:t>
            </a:r>
          </a:p>
          <a:p>
            <a:pPr>
              <a:buFontTx/>
              <a:buChar char="-"/>
            </a:pPr>
            <a:r>
              <a:rPr lang="en-US" sz="1600">
                <a:latin typeface="Times New Roman" panose="02020603050405020304" pitchFamily="18" charset="0"/>
                <a:cs typeface="Times New Roman" panose="02020603050405020304" pitchFamily="18" charset="0"/>
              </a:rPr>
              <a:t>Hai thứ “Light” và “Depth” giúp cho app ( hoặc web ) trở nên đẹp hơn, mượt mà hơn, cảm giác thân thiện hơn. Cũng như cách mà Design mong muốn mang đến cho người dùng</a:t>
            </a:r>
          </a:p>
          <a:p>
            <a:r>
              <a:rPr lang="en-US" sz="1600" b="1">
                <a:latin typeface="Times New Roman" panose="02020603050405020304" pitchFamily="18" charset="0"/>
                <a:cs typeface="Times New Roman" panose="02020603050405020304" pitchFamily="18" charset="0"/>
              </a:rPr>
              <a:t>3. Motion ( chuyển động )</a:t>
            </a:r>
          </a:p>
          <a:p>
            <a:pPr>
              <a:buFontTx/>
              <a:buChar char="-"/>
            </a:pPr>
            <a:r>
              <a:rPr lang="en-US" sz="1600">
                <a:latin typeface="Times New Roman" panose="02020603050405020304" pitchFamily="18" charset="0"/>
                <a:cs typeface="Times New Roman" panose="02020603050405020304" pitchFamily="18" charset="0"/>
              </a:rPr>
              <a:t>Một giao diện hình ảnh động đẹp có thể là một yếu tố hấp dẫn, nhưng các hiệu ứng chuyển động mới là thứ giúp thu hút sự chú ý của người dung, bằng cách cho họ thứ gì đó hoạt động để nhìn vào và tương tác với nó. Nó giống như việc 1 đạo diễn sử dụng body language để dẫn dắt người dùng vào câu chuyện họ muốn kể</a:t>
            </a:r>
          </a:p>
          <a:p>
            <a:r>
              <a:rPr lang="en-US" sz="1600" b="1">
                <a:latin typeface="Times New Roman" panose="02020603050405020304" pitchFamily="18" charset="0"/>
                <a:cs typeface="Times New Roman" panose="02020603050405020304" pitchFamily="18" charset="0"/>
              </a:rPr>
              <a:t>4. Material ( Chất liệu )</a:t>
            </a:r>
          </a:p>
          <a:p>
            <a:pPr>
              <a:buFontTx/>
              <a:buChar char="-"/>
            </a:pPr>
            <a:r>
              <a:rPr lang="en-US" sz="1600">
                <a:latin typeface="Times New Roman" panose="02020603050405020304" pitchFamily="18" charset="0"/>
                <a:cs typeface="Times New Roman" panose="02020603050405020304" pitchFamily="18" charset="0"/>
              </a:rPr>
              <a:t>Là 1 sự thay đổi đột phá cho phong cách đồ họa của window trong quá khứ. Các hình vuông chức năng trong giao diện truyền thống vẫn có thể hoạt động được, nhưng nó thiếu tính kết nối với thế giới thực. Điều quan trọng làm người dùng yêu thích thiết kế ứng dụng là nó có thể mô phỏng cảm giác “ cuốn hút và đầy sinh lực “ </a:t>
            </a:r>
          </a:p>
          <a:p>
            <a:r>
              <a:rPr lang="en-US" sz="1600" b="1">
                <a:latin typeface="Times New Roman" panose="02020603050405020304" pitchFamily="18" charset="0"/>
                <a:cs typeface="Times New Roman" panose="02020603050405020304" pitchFamily="18" charset="0"/>
              </a:rPr>
              <a:t>5. Scale ( mở rộng – thu hẹp)</a:t>
            </a:r>
          </a:p>
          <a:p>
            <a:pPr>
              <a:buFontTx/>
              <a:buChar char="-"/>
            </a:pPr>
            <a:r>
              <a:rPr lang="en-US" sz="1600">
                <a:latin typeface="Times New Roman" panose="02020603050405020304" pitchFamily="18" charset="0"/>
                <a:cs typeface="Times New Roman" panose="02020603050405020304" pitchFamily="18" charset="0"/>
              </a:rPr>
              <a:t>Một giao diện đẹp, hấp dẫn sẽ trở nên hoàn hảo khi có thể hiển thị tốt trên các màn hình lớn nhỏ, được sắp xếp, bố cục hợp lí cho người dùng có cảm giác trải nghiệm tốt nhất</a:t>
            </a:r>
          </a:p>
          <a:p>
            <a:pPr>
              <a:buFontTx/>
              <a:buChar char="-"/>
            </a:pPr>
            <a:endParaRPr 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424521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0CAF-568B-4D0E-B239-D3CAB11DE0F9}"/>
              </a:ext>
            </a:extLst>
          </p:cNvPr>
          <p:cNvSpPr>
            <a:spLocks noGrp="1"/>
          </p:cNvSpPr>
          <p:nvPr>
            <p:ph type="title"/>
          </p:nvPr>
        </p:nvSpPr>
        <p:spPr>
          <a:xfrm>
            <a:off x="838200" y="250825"/>
            <a:ext cx="10515600" cy="803275"/>
          </a:xfrm>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1. Bộ khung</a:t>
            </a:r>
          </a:p>
        </p:txBody>
      </p:sp>
      <p:pic>
        <p:nvPicPr>
          <p:cNvPr id="5" name="Content Placeholder 4">
            <a:extLst>
              <a:ext uri="{FF2B5EF4-FFF2-40B4-BE49-F238E27FC236}">
                <a16:creationId xmlns:a16="http://schemas.microsoft.com/office/drawing/2014/main" id="{C2BFCD2F-7C3B-46C1-AB64-95425081BAE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945429" y="1054100"/>
            <a:ext cx="8003914" cy="5658412"/>
          </a:xfrm>
        </p:spPr>
      </p:pic>
    </p:spTree>
    <p:extLst>
      <p:ext uri="{BB962C8B-B14F-4D97-AF65-F5344CB8AC3E}">
        <p14:creationId xmlns:p14="http://schemas.microsoft.com/office/powerpoint/2010/main" val="3315373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0CAF-568B-4D0E-B239-D3CAB11DE0F9}"/>
              </a:ext>
            </a:extLst>
          </p:cNvPr>
          <p:cNvSpPr>
            <a:spLocks noGrp="1"/>
          </p:cNvSpPr>
          <p:nvPr>
            <p:ph type="title"/>
          </p:nvPr>
        </p:nvSpPr>
        <p:spPr>
          <a:xfrm>
            <a:off x="838200" y="250825"/>
            <a:ext cx="10515600" cy="1242415"/>
          </a:xfrm>
        </p:spPr>
        <p:txBody>
          <a:bodyPr>
            <a:normAutofit fontScale="90000"/>
          </a:bodyPr>
          <a:lstStyle/>
          <a:p>
            <a:r>
              <a:rPr lang="en-US">
                <a:solidFill>
                  <a:schemeClr val="accent1">
                    <a:lumMod val="75000"/>
                  </a:schemeClr>
                </a:solidFill>
                <a:latin typeface="Times New Roman" panose="02020603050405020304" pitchFamily="18" charset="0"/>
                <a:cs typeface="Times New Roman" panose="02020603050405020304" pitchFamily="18" charset="0"/>
              </a:rPr>
              <a:t>2. Bố cục chi tiết</a:t>
            </a:r>
            <a:br>
              <a:rPr lang="en-US">
                <a:solidFill>
                  <a:schemeClr val="accent1">
                    <a:lumMod val="75000"/>
                  </a:schemeClr>
                </a:solidFill>
                <a:latin typeface="Times New Roman" panose="02020603050405020304" pitchFamily="18" charset="0"/>
                <a:cs typeface="Times New Roman" panose="02020603050405020304" pitchFamily="18" charset="0"/>
              </a:rPr>
            </a:br>
            <a:r>
              <a:rPr lang="en-US">
                <a:solidFill>
                  <a:schemeClr val="accent1">
                    <a:lumMod val="75000"/>
                  </a:schemeClr>
                </a:solidFill>
                <a:latin typeface="Times New Roman" panose="02020603050405020304" pitchFamily="18" charset="0"/>
                <a:cs typeface="Times New Roman" panose="02020603050405020304" pitchFamily="18" charset="0"/>
              </a:rPr>
              <a:t>	</a:t>
            </a:r>
            <a:r>
              <a:rPr lang="en-US" sz="3600">
                <a:solidFill>
                  <a:schemeClr val="accent1">
                    <a:lumMod val="75000"/>
                  </a:schemeClr>
                </a:solidFill>
                <a:latin typeface="Times New Roman" panose="02020603050405020304" pitchFamily="18" charset="0"/>
                <a:cs typeface="Times New Roman" panose="02020603050405020304" pitchFamily="18" charset="0"/>
              </a:rPr>
              <a:t>2.1 Menu ngang</a:t>
            </a:r>
            <a:endParaRPr lang="en-US">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8D8C3389-56FB-40CF-97FB-FB6C31629C4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10361" y="1493240"/>
            <a:ext cx="11057389" cy="1735613"/>
          </a:xfrm>
        </p:spPr>
      </p:pic>
      <p:pic>
        <p:nvPicPr>
          <p:cNvPr id="7" name="Picture 6">
            <a:extLst>
              <a:ext uri="{FF2B5EF4-FFF2-40B4-BE49-F238E27FC236}">
                <a16:creationId xmlns:a16="http://schemas.microsoft.com/office/drawing/2014/main" id="{381F6176-4FE7-4FB1-88EC-DB88A76E678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89929" y="3164799"/>
            <a:ext cx="2612141" cy="2877318"/>
          </a:xfrm>
          <a:prstGeom prst="rect">
            <a:avLst/>
          </a:prstGeom>
        </p:spPr>
      </p:pic>
      <p:pic>
        <p:nvPicPr>
          <p:cNvPr id="9" name="Picture 8">
            <a:extLst>
              <a:ext uri="{FF2B5EF4-FFF2-40B4-BE49-F238E27FC236}">
                <a16:creationId xmlns:a16="http://schemas.microsoft.com/office/drawing/2014/main" id="{38404307-F7BF-4C29-9746-88983BFBB55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66686" y="3164799"/>
            <a:ext cx="2612141" cy="2877318"/>
          </a:xfrm>
          <a:prstGeom prst="rect">
            <a:avLst/>
          </a:prstGeom>
        </p:spPr>
      </p:pic>
    </p:spTree>
    <p:extLst>
      <p:ext uri="{BB962C8B-B14F-4D97-AF65-F5344CB8AC3E}">
        <p14:creationId xmlns:p14="http://schemas.microsoft.com/office/powerpoint/2010/main" val="2808674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0CAF-568B-4D0E-B239-D3CAB11DE0F9}"/>
              </a:ext>
            </a:extLst>
          </p:cNvPr>
          <p:cNvSpPr>
            <a:spLocks noGrp="1"/>
          </p:cNvSpPr>
          <p:nvPr>
            <p:ph type="title"/>
          </p:nvPr>
        </p:nvSpPr>
        <p:spPr>
          <a:xfrm>
            <a:off x="838200" y="250825"/>
            <a:ext cx="10515600" cy="1242415"/>
          </a:xfrm>
        </p:spPr>
        <p:txBody>
          <a:bodyPr>
            <a:normAutofit fontScale="90000"/>
          </a:bodyPr>
          <a:lstStyle/>
          <a:p>
            <a:r>
              <a:rPr lang="en-US">
                <a:solidFill>
                  <a:schemeClr val="accent1">
                    <a:lumMod val="75000"/>
                  </a:schemeClr>
                </a:solidFill>
                <a:latin typeface="Times New Roman" panose="02020603050405020304" pitchFamily="18" charset="0"/>
                <a:cs typeface="Times New Roman" panose="02020603050405020304" pitchFamily="18" charset="0"/>
              </a:rPr>
              <a:t>2. Bố cục chi tiết</a:t>
            </a:r>
            <a:br>
              <a:rPr lang="en-US">
                <a:solidFill>
                  <a:schemeClr val="accent1">
                    <a:lumMod val="75000"/>
                  </a:schemeClr>
                </a:solidFill>
                <a:latin typeface="Times New Roman" panose="02020603050405020304" pitchFamily="18" charset="0"/>
                <a:cs typeface="Times New Roman" panose="02020603050405020304" pitchFamily="18" charset="0"/>
              </a:rPr>
            </a:br>
            <a:r>
              <a:rPr lang="en-US">
                <a:solidFill>
                  <a:schemeClr val="accent1">
                    <a:lumMod val="75000"/>
                  </a:schemeClr>
                </a:solidFill>
                <a:latin typeface="Times New Roman" panose="02020603050405020304" pitchFamily="18" charset="0"/>
                <a:cs typeface="Times New Roman" panose="02020603050405020304" pitchFamily="18" charset="0"/>
              </a:rPr>
              <a:t>	</a:t>
            </a:r>
            <a:r>
              <a:rPr lang="en-US" sz="3600">
                <a:solidFill>
                  <a:schemeClr val="accent1">
                    <a:lumMod val="75000"/>
                  </a:schemeClr>
                </a:solidFill>
                <a:latin typeface="Times New Roman" panose="02020603050405020304" pitchFamily="18" charset="0"/>
                <a:cs typeface="Times New Roman" panose="02020603050405020304" pitchFamily="18" charset="0"/>
              </a:rPr>
              <a:t>2.2 Menu dọc</a:t>
            </a:r>
            <a:endParaRPr lang="en-US">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EC33B21F-7E3F-4A72-A352-F85716FA55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4066" y="1493240"/>
            <a:ext cx="1063528" cy="5364760"/>
          </a:xfrm>
          <a:prstGeom prst="rect">
            <a:avLst/>
          </a:prstGeom>
        </p:spPr>
      </p:pic>
      <p:pic>
        <p:nvPicPr>
          <p:cNvPr id="11" name="Picture 10">
            <a:extLst>
              <a:ext uri="{FF2B5EF4-FFF2-40B4-BE49-F238E27FC236}">
                <a16:creationId xmlns:a16="http://schemas.microsoft.com/office/drawing/2014/main" id="{F5AA3FE0-8D45-4CC7-A56E-FBB5475C2C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3866" y="1484851"/>
            <a:ext cx="1063528" cy="5364761"/>
          </a:xfrm>
          <a:prstGeom prst="rect">
            <a:avLst/>
          </a:prstGeom>
        </p:spPr>
      </p:pic>
      <p:pic>
        <p:nvPicPr>
          <p:cNvPr id="13" name="Picture 12">
            <a:extLst>
              <a:ext uri="{FF2B5EF4-FFF2-40B4-BE49-F238E27FC236}">
                <a16:creationId xmlns:a16="http://schemas.microsoft.com/office/drawing/2014/main" id="{27C2FCBB-C72F-48B0-9A64-04BC7B52BE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83529" y="1493239"/>
            <a:ext cx="2302068" cy="5364762"/>
          </a:xfrm>
          <a:prstGeom prst="rect">
            <a:avLst/>
          </a:prstGeom>
        </p:spPr>
      </p:pic>
    </p:spTree>
    <p:extLst>
      <p:ext uri="{BB962C8B-B14F-4D97-AF65-F5344CB8AC3E}">
        <p14:creationId xmlns:p14="http://schemas.microsoft.com/office/powerpoint/2010/main" val="413326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0CAF-568B-4D0E-B239-D3CAB11DE0F9}"/>
              </a:ext>
            </a:extLst>
          </p:cNvPr>
          <p:cNvSpPr>
            <a:spLocks noGrp="1"/>
          </p:cNvSpPr>
          <p:nvPr>
            <p:ph type="title"/>
          </p:nvPr>
        </p:nvSpPr>
        <p:spPr>
          <a:xfrm>
            <a:off x="838200" y="250825"/>
            <a:ext cx="10515600" cy="1242415"/>
          </a:xfrm>
        </p:spPr>
        <p:txBody>
          <a:bodyPr>
            <a:normAutofit fontScale="90000"/>
          </a:bodyPr>
          <a:lstStyle/>
          <a:p>
            <a:r>
              <a:rPr lang="en-US">
                <a:solidFill>
                  <a:schemeClr val="accent1">
                    <a:lumMod val="75000"/>
                  </a:schemeClr>
                </a:solidFill>
                <a:latin typeface="Times New Roman" panose="02020603050405020304" pitchFamily="18" charset="0"/>
                <a:cs typeface="Times New Roman" panose="02020603050405020304" pitchFamily="18" charset="0"/>
              </a:rPr>
              <a:t>2. Bố cục chi tiết</a:t>
            </a:r>
            <a:br>
              <a:rPr lang="en-US">
                <a:solidFill>
                  <a:schemeClr val="accent1">
                    <a:lumMod val="75000"/>
                  </a:schemeClr>
                </a:solidFill>
                <a:latin typeface="Times New Roman" panose="02020603050405020304" pitchFamily="18" charset="0"/>
                <a:cs typeface="Times New Roman" panose="02020603050405020304" pitchFamily="18" charset="0"/>
              </a:rPr>
            </a:br>
            <a:r>
              <a:rPr lang="en-US">
                <a:solidFill>
                  <a:schemeClr val="accent1">
                    <a:lumMod val="75000"/>
                  </a:schemeClr>
                </a:solidFill>
                <a:latin typeface="Times New Roman" panose="02020603050405020304" pitchFamily="18" charset="0"/>
                <a:cs typeface="Times New Roman" panose="02020603050405020304" pitchFamily="18" charset="0"/>
              </a:rPr>
              <a:t>	</a:t>
            </a:r>
            <a:r>
              <a:rPr lang="en-US" sz="3600">
                <a:solidFill>
                  <a:schemeClr val="accent1">
                    <a:lumMod val="75000"/>
                  </a:schemeClr>
                </a:solidFill>
                <a:latin typeface="Times New Roman" panose="02020603050405020304" pitchFamily="18" charset="0"/>
                <a:cs typeface="Times New Roman" panose="02020603050405020304" pitchFamily="18" charset="0"/>
              </a:rPr>
              <a:t>2.3 Header ( nếu cần thiết )</a:t>
            </a:r>
            <a:endParaRPr lang="en-US">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5BF5DE09-7847-4B5A-A4D8-9F886433ED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9797" y="1609340"/>
            <a:ext cx="10692406" cy="1819660"/>
          </a:xfrm>
          <a:prstGeom prst="rect">
            <a:avLst/>
          </a:prstGeom>
        </p:spPr>
      </p:pic>
    </p:spTree>
    <p:extLst>
      <p:ext uri="{BB962C8B-B14F-4D97-AF65-F5344CB8AC3E}">
        <p14:creationId xmlns:p14="http://schemas.microsoft.com/office/powerpoint/2010/main" val="3633116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0CAF-568B-4D0E-B239-D3CAB11DE0F9}"/>
              </a:ext>
            </a:extLst>
          </p:cNvPr>
          <p:cNvSpPr>
            <a:spLocks noGrp="1"/>
          </p:cNvSpPr>
          <p:nvPr>
            <p:ph type="title"/>
          </p:nvPr>
        </p:nvSpPr>
        <p:spPr>
          <a:xfrm>
            <a:off x="838200" y="250825"/>
            <a:ext cx="10515600" cy="1242415"/>
          </a:xfrm>
        </p:spPr>
        <p:txBody>
          <a:bodyPr>
            <a:normAutofit fontScale="90000"/>
          </a:bodyPr>
          <a:lstStyle/>
          <a:p>
            <a:r>
              <a:rPr lang="en-US">
                <a:solidFill>
                  <a:schemeClr val="accent1">
                    <a:lumMod val="75000"/>
                  </a:schemeClr>
                </a:solidFill>
                <a:latin typeface="Times New Roman" panose="02020603050405020304" pitchFamily="18" charset="0"/>
                <a:cs typeface="Times New Roman" panose="02020603050405020304" pitchFamily="18" charset="0"/>
              </a:rPr>
              <a:t>2. Bố cục chi tiết</a:t>
            </a:r>
            <a:br>
              <a:rPr lang="en-US">
                <a:solidFill>
                  <a:schemeClr val="accent1">
                    <a:lumMod val="75000"/>
                  </a:schemeClr>
                </a:solidFill>
                <a:latin typeface="Times New Roman" panose="02020603050405020304" pitchFamily="18" charset="0"/>
                <a:cs typeface="Times New Roman" panose="02020603050405020304" pitchFamily="18" charset="0"/>
              </a:rPr>
            </a:br>
            <a:r>
              <a:rPr lang="en-US">
                <a:solidFill>
                  <a:schemeClr val="accent1">
                    <a:lumMod val="75000"/>
                  </a:schemeClr>
                </a:solidFill>
                <a:latin typeface="Times New Roman" panose="02020603050405020304" pitchFamily="18" charset="0"/>
                <a:cs typeface="Times New Roman" panose="02020603050405020304" pitchFamily="18" charset="0"/>
              </a:rPr>
              <a:t>	</a:t>
            </a:r>
            <a:r>
              <a:rPr lang="en-US" sz="3600">
                <a:solidFill>
                  <a:schemeClr val="accent1">
                    <a:lumMod val="75000"/>
                  </a:schemeClr>
                </a:solidFill>
                <a:latin typeface="Times New Roman" panose="02020603050405020304" pitchFamily="18" charset="0"/>
                <a:cs typeface="Times New Roman" panose="02020603050405020304" pitchFamily="18" charset="0"/>
              </a:rPr>
              <a:t>2.4 Body</a:t>
            </a:r>
            <a:endParaRPr lang="en-US">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ACF328E-C68A-4432-9899-5521140757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4798" y="1493240"/>
            <a:ext cx="7537649" cy="5328782"/>
          </a:xfrm>
          <a:prstGeom prst="rect">
            <a:avLst/>
          </a:prstGeom>
        </p:spPr>
      </p:pic>
    </p:spTree>
    <p:extLst>
      <p:ext uri="{BB962C8B-B14F-4D97-AF65-F5344CB8AC3E}">
        <p14:creationId xmlns:p14="http://schemas.microsoft.com/office/powerpoint/2010/main" val="2630719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E10CAF-568B-4D0E-B239-D3CAB11DE0F9}"/>
              </a:ext>
            </a:extLst>
          </p:cNvPr>
          <p:cNvSpPr>
            <a:spLocks noGrp="1"/>
          </p:cNvSpPr>
          <p:nvPr>
            <p:ph type="title"/>
          </p:nvPr>
        </p:nvSpPr>
        <p:spPr>
          <a:xfrm>
            <a:off x="838200" y="250825"/>
            <a:ext cx="10515600" cy="1242415"/>
          </a:xfrm>
        </p:spPr>
        <p:txBody>
          <a:bodyPr>
            <a:normAutofit fontScale="90000"/>
          </a:bodyPr>
          <a:lstStyle/>
          <a:p>
            <a:r>
              <a:rPr lang="en-US">
                <a:solidFill>
                  <a:schemeClr val="accent1">
                    <a:lumMod val="75000"/>
                  </a:schemeClr>
                </a:solidFill>
                <a:latin typeface="Times New Roman" panose="02020603050405020304" pitchFamily="18" charset="0"/>
                <a:cs typeface="Times New Roman" panose="02020603050405020304" pitchFamily="18" charset="0"/>
              </a:rPr>
              <a:t>2. Bố cục chi tiết</a:t>
            </a:r>
            <a:br>
              <a:rPr lang="en-US">
                <a:solidFill>
                  <a:schemeClr val="accent1">
                    <a:lumMod val="75000"/>
                  </a:schemeClr>
                </a:solidFill>
                <a:latin typeface="Times New Roman" panose="02020603050405020304" pitchFamily="18" charset="0"/>
                <a:cs typeface="Times New Roman" panose="02020603050405020304" pitchFamily="18" charset="0"/>
              </a:rPr>
            </a:br>
            <a:r>
              <a:rPr lang="en-US">
                <a:solidFill>
                  <a:schemeClr val="accent1">
                    <a:lumMod val="75000"/>
                  </a:schemeClr>
                </a:solidFill>
                <a:latin typeface="Times New Roman" panose="02020603050405020304" pitchFamily="18" charset="0"/>
                <a:cs typeface="Times New Roman" panose="02020603050405020304" pitchFamily="18" charset="0"/>
              </a:rPr>
              <a:t>	</a:t>
            </a:r>
            <a:r>
              <a:rPr lang="en-US" sz="3600">
                <a:solidFill>
                  <a:schemeClr val="accent1">
                    <a:lumMod val="75000"/>
                  </a:schemeClr>
                </a:solidFill>
                <a:latin typeface="Times New Roman" panose="02020603050405020304" pitchFamily="18" charset="0"/>
                <a:cs typeface="Times New Roman" panose="02020603050405020304" pitchFamily="18" charset="0"/>
              </a:rPr>
              <a:t>2.5 Modal</a:t>
            </a:r>
            <a:endParaRPr lang="en-US">
              <a:solidFill>
                <a:schemeClr val="accent1">
                  <a:lumMod val="75000"/>
                </a:schemeClr>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FDCEAEB-E7E4-45B3-A4B7-65F9E7B19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4464" y="1612634"/>
            <a:ext cx="6471540" cy="4575538"/>
          </a:xfrm>
          <a:prstGeom prst="rect">
            <a:avLst/>
          </a:prstGeom>
        </p:spPr>
      </p:pic>
    </p:spTree>
    <p:extLst>
      <p:ext uri="{BB962C8B-B14F-4D97-AF65-F5344CB8AC3E}">
        <p14:creationId xmlns:p14="http://schemas.microsoft.com/office/powerpoint/2010/main" val="1566078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262A8E-BA34-4DE9-BFD5-498D895BAE5C}"/>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 Chi tiết các hiệu ứng </a:t>
            </a:r>
          </a:p>
        </p:txBody>
      </p:sp>
      <p:sp>
        <p:nvSpPr>
          <p:cNvPr id="3" name="Content Placeholder 2">
            <a:extLst>
              <a:ext uri="{FF2B5EF4-FFF2-40B4-BE49-F238E27FC236}">
                <a16:creationId xmlns:a16="http://schemas.microsoft.com/office/drawing/2014/main" id="{635C8DD1-EECB-45CB-98E2-9946413379EE}"/>
              </a:ext>
            </a:extLst>
          </p:cNvPr>
          <p:cNvSpPr>
            <a:spLocks noGrp="1"/>
          </p:cNvSpPr>
          <p:nvPr>
            <p:ph idx="1"/>
          </p:nvPr>
        </p:nvSpPr>
        <p:spPr/>
        <p:txBody>
          <a:bodyPr>
            <a:normAutofit/>
          </a:bodyPr>
          <a:lstStyle/>
          <a:p>
            <a:pPr marL="0" indent="0">
              <a:buNone/>
            </a:pPr>
            <a:r>
              <a:rPr lang="en-US" sz="1600">
                <a:latin typeface="Times New Roman" panose="02020603050405020304" pitchFamily="18" charset="0"/>
                <a:cs typeface="Times New Roman" panose="02020603050405020304" pitchFamily="18" charset="0"/>
              </a:rPr>
              <a:t>3.1: Hiệu ứng đổ bóng</a:t>
            </a:r>
          </a:p>
          <a:p>
            <a:pPr marL="0" indent="0">
              <a:buNone/>
            </a:pPr>
            <a:r>
              <a:rPr lang="en-US" sz="1600">
                <a:latin typeface="Times New Roman" panose="02020603050405020304" pitchFamily="18" charset="0"/>
                <a:cs typeface="Times New Roman" panose="02020603050405020304" pitchFamily="18" charset="0"/>
              </a:rPr>
              <a:t>3.2: Hiệu ứng phóng to thu nhỏ ( áp dụng cho cả button và image )</a:t>
            </a:r>
          </a:p>
          <a:p>
            <a:pPr marL="0" indent="0">
              <a:buNone/>
            </a:pPr>
            <a:r>
              <a:rPr lang="en-US" sz="1600">
                <a:latin typeface="Times New Roman" panose="02020603050405020304" pitchFamily="18" charset="0"/>
                <a:cs typeface="Times New Roman" panose="02020603050405020304" pitchFamily="18" charset="0"/>
              </a:rPr>
              <a:t>3.3: Hover </a:t>
            </a:r>
          </a:p>
          <a:p>
            <a:pPr marL="0" indent="0">
              <a:buNone/>
            </a:pPr>
            <a:r>
              <a:rPr lang="en-US" sz="1600">
                <a:latin typeface="Times New Roman" panose="02020603050405020304" pitchFamily="18" charset="0"/>
                <a:cs typeface="Times New Roman" panose="02020603050405020304" pitchFamily="18" charset="0"/>
              </a:rPr>
              <a:t>3.4: Loading</a:t>
            </a:r>
          </a:p>
          <a:p>
            <a:pPr marL="0" indent="0">
              <a:buNone/>
            </a:pPr>
            <a:r>
              <a:rPr lang="en-US" sz="1600">
                <a:latin typeface="Times New Roman" panose="02020603050405020304" pitchFamily="18" charset="0"/>
                <a:cs typeface="Times New Roman" panose="02020603050405020304" pitchFamily="18" charset="0"/>
              </a:rPr>
              <a:t>3.5: Độ trong suốt</a:t>
            </a:r>
          </a:p>
          <a:p>
            <a:pPr marL="0" indent="0">
              <a:buNone/>
            </a:pPr>
            <a:r>
              <a:rPr lang="en-US" sz="1600">
                <a:latin typeface="Times New Roman" panose="02020603050405020304" pitchFamily="18" charset="0"/>
                <a:cs typeface="Times New Roman" panose="02020603050405020304" pitchFamily="18" charset="0"/>
              </a:rPr>
              <a:t>3.6: Click chuột</a:t>
            </a:r>
          </a:p>
          <a:p>
            <a:pPr marL="0" indent="0">
              <a:buNone/>
            </a:pPr>
            <a:r>
              <a:rPr lang="en-US" sz="1600">
                <a:latin typeface="Times New Roman" panose="02020603050405020304" pitchFamily="18" charset="0"/>
                <a:cs typeface="Times New Roman" panose="02020603050405020304" pitchFamily="18" charset="0"/>
              </a:rPr>
              <a:t>3.7: Modal</a:t>
            </a:r>
          </a:p>
          <a:p>
            <a:pPr marL="0" indent="0">
              <a:buNone/>
            </a:pPr>
            <a:r>
              <a:rPr lang="en-US" sz="1600">
                <a:latin typeface="Times New Roman" panose="02020603050405020304" pitchFamily="18" charset="0"/>
                <a:cs typeface="Times New Roman" panose="02020603050405020304" pitchFamily="18" charset="0"/>
              </a:rPr>
              <a:t>3.8: Khoảng cách</a:t>
            </a:r>
          </a:p>
          <a:p>
            <a:pPr marL="0" indent="0">
              <a:buNone/>
            </a:pPr>
            <a:endParaRPr lang="en-US" sz="16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1652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3.1: Hiệu ứng đổ bóng</a:t>
            </a:r>
          </a:p>
        </p:txBody>
      </p:sp>
      <p:sp>
        <p:nvSpPr>
          <p:cNvPr id="3" name="Content Placeholder 2">
            <a:extLst>
              <a:ext uri="{FF2B5EF4-FFF2-40B4-BE49-F238E27FC236}">
                <a16:creationId xmlns:a16="http://schemas.microsoft.com/office/drawing/2014/main" id="{EC48A121-264F-40F6-8559-C586D173AEB7}"/>
              </a:ext>
            </a:extLst>
          </p:cNvPr>
          <p:cNvSpPr>
            <a:spLocks noGrp="1"/>
          </p:cNvSpPr>
          <p:nvPr>
            <p:ph idx="1"/>
          </p:nvPr>
        </p:nvSpPr>
        <p:spPr>
          <a:xfrm>
            <a:off x="838200" y="1834014"/>
            <a:ext cx="10515600" cy="4351338"/>
          </a:xfrm>
        </p:spPr>
        <p:txBody>
          <a:bodyPr>
            <a:normAutofit/>
          </a:bodyPr>
          <a:lstStyle/>
          <a:p>
            <a:pPr marL="342900" indent="-342900">
              <a:buFont typeface="+mj-lt"/>
              <a:buAutoNum type="arabicPeriod"/>
            </a:pPr>
            <a:r>
              <a:rPr lang="en-US" sz="1600">
                <a:latin typeface="Times New Roman" panose="02020603050405020304" pitchFamily="18" charset="0"/>
                <a:cs typeface="Times New Roman" panose="02020603050405020304" pitchFamily="18" charset="0"/>
              </a:rPr>
              <a:t>Đổ bóng cho button</a:t>
            </a:r>
          </a:p>
          <a:p>
            <a:pPr marL="0" indent="0">
              <a:buNone/>
            </a:pPr>
            <a:r>
              <a:rPr lang="en-US" sz="1600">
                <a:latin typeface="Times New Roman" panose="02020603050405020304" pitchFamily="18" charset="0"/>
                <a:cs typeface="Times New Roman" panose="02020603050405020304" pitchFamily="18" charset="0"/>
              </a:rPr>
              <a:t>											</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C4A7EA1C-6C14-412F-A08E-FE87F88E1560}"/>
              </a:ext>
            </a:extLst>
          </p:cNvPr>
          <p:cNvPicPr>
            <a:picLocks noChangeAspect="1"/>
          </p:cNvPicPr>
          <p:nvPr/>
        </p:nvPicPr>
        <p:blipFill>
          <a:blip r:embed="rId2"/>
          <a:stretch>
            <a:fillRect/>
          </a:stretch>
        </p:blipFill>
        <p:spPr>
          <a:xfrm>
            <a:off x="1570969" y="2207440"/>
            <a:ext cx="8848725" cy="3181350"/>
          </a:xfrm>
          <a:prstGeom prst="rect">
            <a:avLst/>
          </a:prstGeom>
        </p:spPr>
      </p:pic>
      <p:sp>
        <p:nvSpPr>
          <p:cNvPr id="7" name="TextBox 6">
            <a:extLst>
              <a:ext uri="{FF2B5EF4-FFF2-40B4-BE49-F238E27FC236}">
                <a16:creationId xmlns:a16="http://schemas.microsoft.com/office/drawing/2014/main" id="{FDDD017B-1964-4E74-BA54-A5CA68EE7A4F}"/>
              </a:ext>
            </a:extLst>
          </p:cNvPr>
          <p:cNvSpPr txBox="1"/>
          <p:nvPr/>
        </p:nvSpPr>
        <p:spPr>
          <a:xfrm>
            <a:off x="1680025" y="5598210"/>
            <a:ext cx="2631915" cy="369332"/>
          </a:xfrm>
          <a:prstGeom prst="rect">
            <a:avLst/>
          </a:prstGeom>
          <a:noFill/>
        </p:spPr>
        <p:txBody>
          <a:bodyPr wrap="square" rtlCol="0">
            <a:spAutoFit/>
          </a:bodyPr>
          <a:lstStyle/>
          <a:p>
            <a:r>
              <a:rPr lang="en-US"/>
              <a:t>1. Đổ bóng nhẹ</a:t>
            </a:r>
          </a:p>
        </p:txBody>
      </p:sp>
      <p:sp>
        <p:nvSpPr>
          <p:cNvPr id="9" name="TextBox 8">
            <a:extLst>
              <a:ext uri="{FF2B5EF4-FFF2-40B4-BE49-F238E27FC236}">
                <a16:creationId xmlns:a16="http://schemas.microsoft.com/office/drawing/2014/main" id="{347B0520-33BB-4B9D-9173-9853BB1130A7}"/>
              </a:ext>
            </a:extLst>
          </p:cNvPr>
          <p:cNvSpPr txBox="1"/>
          <p:nvPr/>
        </p:nvSpPr>
        <p:spPr>
          <a:xfrm>
            <a:off x="4780042" y="5598210"/>
            <a:ext cx="2631915" cy="369332"/>
          </a:xfrm>
          <a:prstGeom prst="rect">
            <a:avLst/>
          </a:prstGeom>
          <a:noFill/>
        </p:spPr>
        <p:txBody>
          <a:bodyPr wrap="square" rtlCol="0">
            <a:spAutoFit/>
          </a:bodyPr>
          <a:lstStyle/>
          <a:p>
            <a:r>
              <a:rPr lang="en-US"/>
              <a:t>2. Đổ bóng vừa</a:t>
            </a:r>
          </a:p>
        </p:txBody>
      </p:sp>
      <p:sp>
        <p:nvSpPr>
          <p:cNvPr id="11" name="TextBox 10">
            <a:extLst>
              <a:ext uri="{FF2B5EF4-FFF2-40B4-BE49-F238E27FC236}">
                <a16:creationId xmlns:a16="http://schemas.microsoft.com/office/drawing/2014/main" id="{9EBA83AC-6569-423F-A4DF-D678DA7C78BD}"/>
              </a:ext>
            </a:extLst>
          </p:cNvPr>
          <p:cNvSpPr txBox="1"/>
          <p:nvPr/>
        </p:nvSpPr>
        <p:spPr>
          <a:xfrm>
            <a:off x="7880060" y="5605578"/>
            <a:ext cx="2631915" cy="369332"/>
          </a:xfrm>
          <a:prstGeom prst="rect">
            <a:avLst/>
          </a:prstGeom>
          <a:noFill/>
        </p:spPr>
        <p:txBody>
          <a:bodyPr wrap="square" rtlCol="0">
            <a:spAutoFit/>
          </a:bodyPr>
          <a:lstStyle/>
          <a:p>
            <a:r>
              <a:rPr lang="en-US"/>
              <a:t>3. Đổ bóng đậm</a:t>
            </a:r>
          </a:p>
        </p:txBody>
      </p:sp>
    </p:spTree>
    <p:extLst>
      <p:ext uri="{BB962C8B-B14F-4D97-AF65-F5344CB8AC3E}">
        <p14:creationId xmlns:p14="http://schemas.microsoft.com/office/powerpoint/2010/main" val="2546513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3.2: Hiệu ứng phóng to thu nhỏ</a:t>
            </a:r>
          </a:p>
        </p:txBody>
      </p:sp>
      <p:sp>
        <p:nvSpPr>
          <p:cNvPr id="3" name="Content Placeholder 2">
            <a:extLst>
              <a:ext uri="{FF2B5EF4-FFF2-40B4-BE49-F238E27FC236}">
                <a16:creationId xmlns:a16="http://schemas.microsoft.com/office/drawing/2014/main" id="{EC48A121-264F-40F6-8559-C586D173AEB7}"/>
              </a:ext>
            </a:extLst>
          </p:cNvPr>
          <p:cNvSpPr>
            <a:spLocks noGrp="1"/>
          </p:cNvSpPr>
          <p:nvPr>
            <p:ph idx="1"/>
          </p:nvPr>
        </p:nvSpPr>
        <p:spPr>
          <a:xfrm>
            <a:off x="720754" y="1382887"/>
            <a:ext cx="10515600" cy="4558397"/>
          </a:xfrm>
        </p:spPr>
        <p:txBody>
          <a:bodyPr>
            <a:normAutofit/>
          </a:bodyPr>
          <a:lstStyle/>
          <a:p>
            <a:pPr marL="342900" indent="-342900">
              <a:buFont typeface="+mj-lt"/>
              <a:buAutoNum type="arabicPeriod"/>
            </a:pPr>
            <a:r>
              <a:rPr lang="en-US" sz="1600">
                <a:latin typeface="Times New Roman" panose="02020603050405020304" pitchFamily="18" charset="0"/>
                <a:cs typeface="Times New Roman" panose="02020603050405020304" pitchFamily="18" charset="0"/>
              </a:rPr>
              <a:t>Image</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p:txBody>
      </p:sp>
      <p:pic>
        <p:nvPicPr>
          <p:cNvPr id="6" name="Picture 5">
            <a:extLst>
              <a:ext uri="{FF2B5EF4-FFF2-40B4-BE49-F238E27FC236}">
                <a16:creationId xmlns:a16="http://schemas.microsoft.com/office/drawing/2014/main" id="{85F90E31-9517-4E55-8C97-B3180B82F990}"/>
              </a:ext>
            </a:extLst>
          </p:cNvPr>
          <p:cNvPicPr>
            <a:picLocks noChangeAspect="1"/>
          </p:cNvPicPr>
          <p:nvPr/>
        </p:nvPicPr>
        <p:blipFill>
          <a:blip r:embed="rId2"/>
          <a:stretch>
            <a:fillRect/>
          </a:stretch>
        </p:blipFill>
        <p:spPr>
          <a:xfrm>
            <a:off x="1666044" y="1651233"/>
            <a:ext cx="2531029" cy="2372468"/>
          </a:xfrm>
          <a:prstGeom prst="rect">
            <a:avLst/>
          </a:prstGeom>
        </p:spPr>
      </p:pic>
      <p:sp>
        <p:nvSpPr>
          <p:cNvPr id="10" name="TextBox 9">
            <a:extLst>
              <a:ext uri="{FF2B5EF4-FFF2-40B4-BE49-F238E27FC236}">
                <a16:creationId xmlns:a16="http://schemas.microsoft.com/office/drawing/2014/main" id="{CEA4D0FA-3ED8-4614-A28F-EDCB09ECDB2A}"/>
              </a:ext>
            </a:extLst>
          </p:cNvPr>
          <p:cNvSpPr txBox="1"/>
          <p:nvPr/>
        </p:nvSpPr>
        <p:spPr>
          <a:xfrm>
            <a:off x="2090257" y="5301318"/>
            <a:ext cx="914400" cy="914400"/>
          </a:xfrm>
          <a:prstGeom prst="rect">
            <a:avLst/>
          </a:prstGeom>
          <a:noFill/>
        </p:spPr>
        <p:txBody>
          <a:bodyPr wrap="square" rtlCol="0">
            <a:spAutoFit/>
          </a:bodyPr>
          <a:lstStyle/>
          <a:p>
            <a:endParaRPr lang="en-US"/>
          </a:p>
        </p:txBody>
      </p:sp>
      <p:sp>
        <p:nvSpPr>
          <p:cNvPr id="14" name="TextBox 13">
            <a:extLst>
              <a:ext uri="{FF2B5EF4-FFF2-40B4-BE49-F238E27FC236}">
                <a16:creationId xmlns:a16="http://schemas.microsoft.com/office/drawing/2014/main" id="{38655AE5-25F6-4AD7-9CF8-F9A4A7705D89}"/>
              </a:ext>
            </a:extLst>
          </p:cNvPr>
          <p:cNvSpPr txBox="1"/>
          <p:nvPr/>
        </p:nvSpPr>
        <p:spPr>
          <a:xfrm>
            <a:off x="3494714" y="5286135"/>
            <a:ext cx="914400" cy="914400"/>
          </a:xfrm>
          <a:prstGeom prst="rect">
            <a:avLst/>
          </a:prstGeom>
          <a:noFill/>
        </p:spPr>
        <p:txBody>
          <a:bodyPr wrap="square" rtlCol="0">
            <a:spAutoFit/>
          </a:bodyPr>
          <a:lstStyle/>
          <a:p>
            <a:endParaRPr lang="en-US"/>
          </a:p>
        </p:txBody>
      </p:sp>
      <p:sp>
        <p:nvSpPr>
          <p:cNvPr id="16" name="TextBox 15">
            <a:extLst>
              <a:ext uri="{FF2B5EF4-FFF2-40B4-BE49-F238E27FC236}">
                <a16:creationId xmlns:a16="http://schemas.microsoft.com/office/drawing/2014/main" id="{4E9E08D6-1B80-43D4-88BF-210355CE2D66}"/>
              </a:ext>
            </a:extLst>
          </p:cNvPr>
          <p:cNvSpPr txBox="1"/>
          <p:nvPr/>
        </p:nvSpPr>
        <p:spPr>
          <a:xfrm>
            <a:off x="1852394" y="5026884"/>
            <a:ext cx="2531028" cy="914400"/>
          </a:xfrm>
          <a:prstGeom prst="rect">
            <a:avLst/>
          </a:prstGeom>
          <a:noFill/>
        </p:spPr>
        <p:txBody>
          <a:bodyPr wrap="square" rtlCol="0">
            <a:spAutoFit/>
          </a:bodyPr>
          <a:lstStyle/>
          <a:p>
            <a:endParaRPr lang="en-US"/>
          </a:p>
        </p:txBody>
      </p:sp>
      <p:sp>
        <p:nvSpPr>
          <p:cNvPr id="17" name="TextBox 16">
            <a:extLst>
              <a:ext uri="{FF2B5EF4-FFF2-40B4-BE49-F238E27FC236}">
                <a16:creationId xmlns:a16="http://schemas.microsoft.com/office/drawing/2014/main" id="{E840EE3D-83D3-4CB1-9707-95B013A0AE24}"/>
              </a:ext>
            </a:extLst>
          </p:cNvPr>
          <p:cNvSpPr txBox="1"/>
          <p:nvPr/>
        </p:nvSpPr>
        <p:spPr>
          <a:xfrm>
            <a:off x="7259513" y="3932177"/>
            <a:ext cx="914400"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After</a:t>
            </a:r>
          </a:p>
        </p:txBody>
      </p:sp>
      <p:sp>
        <p:nvSpPr>
          <p:cNvPr id="18" name="TextBox 17">
            <a:extLst>
              <a:ext uri="{FF2B5EF4-FFF2-40B4-BE49-F238E27FC236}">
                <a16:creationId xmlns:a16="http://schemas.microsoft.com/office/drawing/2014/main" id="{7400C311-B8DB-44A6-8768-ABEFF1FC0415}"/>
              </a:ext>
            </a:extLst>
          </p:cNvPr>
          <p:cNvSpPr txBox="1"/>
          <p:nvPr/>
        </p:nvSpPr>
        <p:spPr>
          <a:xfrm>
            <a:off x="2547457" y="3900052"/>
            <a:ext cx="914400"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Before</a:t>
            </a:r>
          </a:p>
        </p:txBody>
      </p:sp>
      <p:pic>
        <p:nvPicPr>
          <p:cNvPr id="20" name="Picture 19">
            <a:extLst>
              <a:ext uri="{FF2B5EF4-FFF2-40B4-BE49-F238E27FC236}">
                <a16:creationId xmlns:a16="http://schemas.microsoft.com/office/drawing/2014/main" id="{827C7BB8-DB46-43F8-9DAA-47C8F628D385}"/>
              </a:ext>
            </a:extLst>
          </p:cNvPr>
          <p:cNvPicPr>
            <a:picLocks noChangeAspect="1"/>
          </p:cNvPicPr>
          <p:nvPr/>
        </p:nvPicPr>
        <p:blipFill>
          <a:blip r:embed="rId3"/>
          <a:stretch>
            <a:fillRect/>
          </a:stretch>
        </p:blipFill>
        <p:spPr>
          <a:xfrm>
            <a:off x="6188146" y="1651233"/>
            <a:ext cx="2531029" cy="2335984"/>
          </a:xfrm>
          <a:prstGeom prst="rect">
            <a:avLst/>
          </a:prstGeom>
        </p:spPr>
      </p:pic>
    </p:spTree>
    <p:extLst>
      <p:ext uri="{BB962C8B-B14F-4D97-AF65-F5344CB8AC3E}">
        <p14:creationId xmlns:p14="http://schemas.microsoft.com/office/powerpoint/2010/main" val="1515864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3.3: Hover</a:t>
            </a:r>
          </a:p>
        </p:txBody>
      </p:sp>
      <p:pic>
        <p:nvPicPr>
          <p:cNvPr id="5" name="Picture 4">
            <a:extLst>
              <a:ext uri="{FF2B5EF4-FFF2-40B4-BE49-F238E27FC236}">
                <a16:creationId xmlns:a16="http://schemas.microsoft.com/office/drawing/2014/main" id="{88A45502-4F97-4AEB-BA41-116056EF3A29}"/>
              </a:ext>
            </a:extLst>
          </p:cNvPr>
          <p:cNvPicPr>
            <a:picLocks noChangeAspect="1"/>
          </p:cNvPicPr>
          <p:nvPr/>
        </p:nvPicPr>
        <p:blipFill>
          <a:blip r:embed="rId2"/>
          <a:stretch>
            <a:fillRect/>
          </a:stretch>
        </p:blipFill>
        <p:spPr>
          <a:xfrm>
            <a:off x="838201" y="1690688"/>
            <a:ext cx="4396530" cy="600075"/>
          </a:xfrm>
          <a:prstGeom prst="rect">
            <a:avLst/>
          </a:prstGeom>
        </p:spPr>
      </p:pic>
      <p:pic>
        <p:nvPicPr>
          <p:cNvPr id="7" name="Picture 6">
            <a:extLst>
              <a:ext uri="{FF2B5EF4-FFF2-40B4-BE49-F238E27FC236}">
                <a16:creationId xmlns:a16="http://schemas.microsoft.com/office/drawing/2014/main" id="{885BE851-DA10-4B62-88BE-157123048DC1}"/>
              </a:ext>
            </a:extLst>
          </p:cNvPr>
          <p:cNvPicPr>
            <a:picLocks noChangeAspect="1"/>
          </p:cNvPicPr>
          <p:nvPr/>
        </p:nvPicPr>
        <p:blipFill>
          <a:blip r:embed="rId3"/>
          <a:stretch>
            <a:fillRect/>
          </a:stretch>
        </p:blipFill>
        <p:spPr>
          <a:xfrm>
            <a:off x="6597155" y="1690688"/>
            <a:ext cx="4819650" cy="2876550"/>
          </a:xfrm>
          <a:prstGeom prst="rect">
            <a:avLst/>
          </a:prstGeom>
        </p:spPr>
      </p:pic>
      <p:sp>
        <p:nvSpPr>
          <p:cNvPr id="12" name="TextBox 11">
            <a:extLst>
              <a:ext uri="{FF2B5EF4-FFF2-40B4-BE49-F238E27FC236}">
                <a16:creationId xmlns:a16="http://schemas.microsoft.com/office/drawing/2014/main" id="{AA956D9A-A649-415F-A52C-2A093E99481E}"/>
              </a:ext>
            </a:extLst>
          </p:cNvPr>
          <p:cNvSpPr txBox="1"/>
          <p:nvPr/>
        </p:nvSpPr>
        <p:spPr>
          <a:xfrm>
            <a:off x="2341927" y="4672776"/>
            <a:ext cx="1686187"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Before</a:t>
            </a:r>
          </a:p>
        </p:txBody>
      </p:sp>
      <p:sp>
        <p:nvSpPr>
          <p:cNvPr id="14" name="TextBox 13">
            <a:extLst>
              <a:ext uri="{FF2B5EF4-FFF2-40B4-BE49-F238E27FC236}">
                <a16:creationId xmlns:a16="http://schemas.microsoft.com/office/drawing/2014/main" id="{0E53DA21-DFCC-422E-BA70-A7E263F271F8}"/>
              </a:ext>
            </a:extLst>
          </p:cNvPr>
          <p:cNvSpPr txBox="1"/>
          <p:nvPr/>
        </p:nvSpPr>
        <p:spPr>
          <a:xfrm>
            <a:off x="9006980" y="4672776"/>
            <a:ext cx="1686187"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After</a:t>
            </a:r>
          </a:p>
        </p:txBody>
      </p:sp>
      <p:pic>
        <p:nvPicPr>
          <p:cNvPr id="17" name="Picture 16">
            <a:extLst>
              <a:ext uri="{FF2B5EF4-FFF2-40B4-BE49-F238E27FC236}">
                <a16:creationId xmlns:a16="http://schemas.microsoft.com/office/drawing/2014/main" id="{AB92097D-06A5-47D9-9C37-14E835973B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89634" y="2072649"/>
            <a:ext cx="327171" cy="218114"/>
          </a:xfrm>
          <a:prstGeom prst="rect">
            <a:avLst/>
          </a:prstGeom>
        </p:spPr>
      </p:pic>
    </p:spTree>
    <p:extLst>
      <p:ext uri="{BB962C8B-B14F-4D97-AF65-F5344CB8AC3E}">
        <p14:creationId xmlns:p14="http://schemas.microsoft.com/office/powerpoint/2010/main" val="38283309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3.4: </a:t>
            </a:r>
            <a:r>
              <a:rPr lang="en-US" sz="4400">
                <a:solidFill>
                  <a:schemeClr val="accent1">
                    <a:lumMod val="75000"/>
                  </a:schemeClr>
                </a:solidFill>
                <a:latin typeface="Times New Roman" panose="02020603050405020304" pitchFamily="18" charset="0"/>
                <a:cs typeface="Times New Roman" panose="02020603050405020304" pitchFamily="18" charset="0"/>
              </a:rPr>
              <a:t>Loading</a:t>
            </a:r>
            <a:endParaRPr lang="en-US">
              <a:solidFill>
                <a:schemeClr val="accent1">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EC48A121-264F-40F6-8559-C586D173AEB7}"/>
              </a:ext>
            </a:extLst>
          </p:cNvPr>
          <p:cNvSpPr>
            <a:spLocks noGrp="1"/>
          </p:cNvSpPr>
          <p:nvPr>
            <p:ph idx="1"/>
          </p:nvPr>
        </p:nvSpPr>
        <p:spPr>
          <a:xfrm>
            <a:off x="838200" y="1834014"/>
            <a:ext cx="10515600" cy="4351338"/>
          </a:xfrm>
        </p:spPr>
        <p:txBody>
          <a:bodyPr>
            <a:normAutofit/>
          </a:bodyPr>
          <a:lstStyle/>
          <a:p>
            <a:pPr marL="0" indent="0">
              <a:buNone/>
            </a:pPr>
            <a:r>
              <a:rPr lang="en-US" sz="1600">
                <a:latin typeface="Times New Roman" panose="02020603050405020304" pitchFamily="18" charset="0"/>
                <a:cs typeface="Times New Roman" panose="02020603050405020304" pitchFamily="18" charset="0"/>
              </a:rPr>
              <a:t>1. Một vài mẫu loading cho phần mềm										</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BCB4BF45-3ADB-442B-815C-BA3FEB20491B}"/>
              </a:ext>
            </a:extLst>
          </p:cNvPr>
          <p:cNvPicPr>
            <a:picLocks noChangeAspect="1"/>
          </p:cNvPicPr>
          <p:nvPr/>
        </p:nvPicPr>
        <p:blipFill>
          <a:blip r:embed="rId2"/>
          <a:stretch>
            <a:fillRect/>
          </a:stretch>
        </p:blipFill>
        <p:spPr>
          <a:xfrm>
            <a:off x="1116260" y="2478336"/>
            <a:ext cx="2476500" cy="1733550"/>
          </a:xfrm>
          <a:prstGeom prst="rect">
            <a:avLst/>
          </a:prstGeom>
        </p:spPr>
      </p:pic>
      <p:pic>
        <p:nvPicPr>
          <p:cNvPr id="7" name="Picture 6">
            <a:extLst>
              <a:ext uri="{FF2B5EF4-FFF2-40B4-BE49-F238E27FC236}">
                <a16:creationId xmlns:a16="http://schemas.microsoft.com/office/drawing/2014/main" id="{0BDDF442-E3C4-4A3C-BB4B-7E361717ED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6271" y="2560303"/>
            <a:ext cx="1651583" cy="1651583"/>
          </a:xfrm>
          <a:prstGeom prst="rect">
            <a:avLst/>
          </a:prstGeom>
        </p:spPr>
      </p:pic>
      <p:pic>
        <p:nvPicPr>
          <p:cNvPr id="11" name="Picture 10">
            <a:extLst>
              <a:ext uri="{FF2B5EF4-FFF2-40B4-BE49-F238E27FC236}">
                <a16:creationId xmlns:a16="http://schemas.microsoft.com/office/drawing/2014/main" id="{5E39B226-C662-4C8F-8758-C24B29FD46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67119" y="2478336"/>
            <a:ext cx="1905000" cy="1905000"/>
          </a:xfrm>
          <a:prstGeom prst="rect">
            <a:avLst/>
          </a:prstGeom>
        </p:spPr>
      </p:pic>
      <p:pic>
        <p:nvPicPr>
          <p:cNvPr id="13" name="Picture 12">
            <a:extLst>
              <a:ext uri="{FF2B5EF4-FFF2-40B4-BE49-F238E27FC236}">
                <a16:creationId xmlns:a16="http://schemas.microsoft.com/office/drawing/2014/main" id="{2D517292-4B7D-4FA4-859C-C8F3020778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082830" y="2433594"/>
            <a:ext cx="1905000" cy="1905000"/>
          </a:xfrm>
          <a:prstGeom prst="rect">
            <a:avLst/>
          </a:prstGeom>
        </p:spPr>
      </p:pic>
    </p:spTree>
    <p:extLst>
      <p:ext uri="{BB962C8B-B14F-4D97-AF65-F5344CB8AC3E}">
        <p14:creationId xmlns:p14="http://schemas.microsoft.com/office/powerpoint/2010/main" val="33030730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3.5: Độ trong suốt</a:t>
            </a:r>
          </a:p>
        </p:txBody>
      </p:sp>
      <p:sp>
        <p:nvSpPr>
          <p:cNvPr id="3" name="Content Placeholder 2">
            <a:extLst>
              <a:ext uri="{FF2B5EF4-FFF2-40B4-BE49-F238E27FC236}">
                <a16:creationId xmlns:a16="http://schemas.microsoft.com/office/drawing/2014/main" id="{EC48A121-264F-40F6-8559-C586D173AEB7}"/>
              </a:ext>
            </a:extLst>
          </p:cNvPr>
          <p:cNvSpPr>
            <a:spLocks noGrp="1"/>
          </p:cNvSpPr>
          <p:nvPr>
            <p:ph idx="1"/>
          </p:nvPr>
        </p:nvSpPr>
        <p:spPr>
          <a:xfrm>
            <a:off x="838200" y="1834014"/>
            <a:ext cx="10515600" cy="4351338"/>
          </a:xfrm>
        </p:spPr>
        <p:txBody>
          <a:bodyPr>
            <a:normAutofit/>
          </a:bodyPr>
          <a:lstStyle/>
          <a:p>
            <a:pPr marL="0" indent="0">
              <a:buNone/>
            </a:pPr>
            <a:r>
              <a:rPr lang="en-US" sz="1600">
                <a:latin typeface="Times New Roman" panose="02020603050405020304" pitchFamily="18" charset="0"/>
                <a:cs typeface="Times New Roman" panose="02020603050405020304" pitchFamily="18" charset="0"/>
              </a:rPr>
              <a:t>											</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5A3EA366-0357-42C3-BCCF-AAE8C048421F}"/>
              </a:ext>
            </a:extLst>
          </p:cNvPr>
          <p:cNvPicPr>
            <a:picLocks noChangeAspect="1"/>
          </p:cNvPicPr>
          <p:nvPr/>
        </p:nvPicPr>
        <p:blipFill>
          <a:blip r:embed="rId2"/>
          <a:stretch>
            <a:fillRect/>
          </a:stretch>
        </p:blipFill>
        <p:spPr>
          <a:xfrm>
            <a:off x="838200" y="1690688"/>
            <a:ext cx="10180914" cy="4297825"/>
          </a:xfrm>
          <a:prstGeom prst="rect">
            <a:avLst/>
          </a:prstGeom>
        </p:spPr>
      </p:pic>
    </p:spTree>
    <p:extLst>
      <p:ext uri="{BB962C8B-B14F-4D97-AF65-F5344CB8AC3E}">
        <p14:creationId xmlns:p14="http://schemas.microsoft.com/office/powerpoint/2010/main" val="26692022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3.6: Click chuột</a:t>
            </a:r>
          </a:p>
        </p:txBody>
      </p:sp>
      <p:sp>
        <p:nvSpPr>
          <p:cNvPr id="3" name="Content Placeholder 2">
            <a:extLst>
              <a:ext uri="{FF2B5EF4-FFF2-40B4-BE49-F238E27FC236}">
                <a16:creationId xmlns:a16="http://schemas.microsoft.com/office/drawing/2014/main" id="{EC48A121-264F-40F6-8559-C586D173AEB7}"/>
              </a:ext>
            </a:extLst>
          </p:cNvPr>
          <p:cNvSpPr>
            <a:spLocks noGrp="1"/>
          </p:cNvSpPr>
          <p:nvPr>
            <p:ph idx="1"/>
          </p:nvPr>
        </p:nvSpPr>
        <p:spPr>
          <a:xfrm>
            <a:off x="838200" y="1834014"/>
            <a:ext cx="10515600" cy="4351338"/>
          </a:xfrm>
        </p:spPr>
        <p:txBody>
          <a:bodyPr>
            <a:normAutofit/>
          </a:bodyPr>
          <a:lstStyle/>
          <a:p>
            <a:pPr marL="0" indent="0">
              <a:buNone/>
            </a:pPr>
            <a:r>
              <a:rPr lang="en-US" sz="1600">
                <a:latin typeface="Times New Roman" panose="02020603050405020304" pitchFamily="18" charset="0"/>
                <a:cs typeface="Times New Roman" panose="02020603050405020304" pitchFamily="18" charset="0"/>
              </a:rPr>
              <a:t>											</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FD88430D-CABD-4258-975D-A9FB687C8D5A}"/>
              </a:ext>
            </a:extLst>
          </p:cNvPr>
          <p:cNvPicPr>
            <a:picLocks noChangeAspect="1"/>
          </p:cNvPicPr>
          <p:nvPr/>
        </p:nvPicPr>
        <p:blipFill>
          <a:blip r:embed="rId2"/>
          <a:stretch>
            <a:fillRect/>
          </a:stretch>
        </p:blipFill>
        <p:spPr>
          <a:xfrm>
            <a:off x="1481093" y="1559019"/>
            <a:ext cx="2680305" cy="3739961"/>
          </a:xfrm>
          <a:prstGeom prst="rect">
            <a:avLst/>
          </a:prstGeom>
        </p:spPr>
      </p:pic>
      <p:pic>
        <p:nvPicPr>
          <p:cNvPr id="7" name="Picture 6">
            <a:extLst>
              <a:ext uri="{FF2B5EF4-FFF2-40B4-BE49-F238E27FC236}">
                <a16:creationId xmlns:a16="http://schemas.microsoft.com/office/drawing/2014/main" id="{27EBD91D-09A4-47D0-B230-20FD29D40FCB}"/>
              </a:ext>
            </a:extLst>
          </p:cNvPr>
          <p:cNvPicPr>
            <a:picLocks noChangeAspect="1"/>
          </p:cNvPicPr>
          <p:nvPr/>
        </p:nvPicPr>
        <p:blipFill>
          <a:blip r:embed="rId3"/>
          <a:stretch>
            <a:fillRect/>
          </a:stretch>
        </p:blipFill>
        <p:spPr>
          <a:xfrm>
            <a:off x="6874560" y="1563216"/>
            <a:ext cx="2764390" cy="3737672"/>
          </a:xfrm>
          <a:prstGeom prst="rect">
            <a:avLst/>
          </a:prstGeom>
        </p:spPr>
      </p:pic>
      <p:sp>
        <p:nvSpPr>
          <p:cNvPr id="8" name="TextBox 7">
            <a:extLst>
              <a:ext uri="{FF2B5EF4-FFF2-40B4-BE49-F238E27FC236}">
                <a16:creationId xmlns:a16="http://schemas.microsoft.com/office/drawing/2014/main" id="{F4AF1F7B-B653-4D09-9402-3E761F2DA8B8}"/>
              </a:ext>
            </a:extLst>
          </p:cNvPr>
          <p:cNvSpPr txBox="1"/>
          <p:nvPr/>
        </p:nvSpPr>
        <p:spPr>
          <a:xfrm>
            <a:off x="2364045" y="5451380"/>
            <a:ext cx="914400"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Before</a:t>
            </a:r>
          </a:p>
        </p:txBody>
      </p:sp>
      <p:sp>
        <p:nvSpPr>
          <p:cNvPr id="10" name="TextBox 9">
            <a:extLst>
              <a:ext uri="{FF2B5EF4-FFF2-40B4-BE49-F238E27FC236}">
                <a16:creationId xmlns:a16="http://schemas.microsoft.com/office/drawing/2014/main" id="{5251FD7E-829A-4191-BE43-DF09E5D36170}"/>
              </a:ext>
            </a:extLst>
          </p:cNvPr>
          <p:cNvSpPr txBox="1"/>
          <p:nvPr/>
        </p:nvSpPr>
        <p:spPr>
          <a:xfrm>
            <a:off x="8061568" y="5451380"/>
            <a:ext cx="914400" cy="369332"/>
          </a:xfrm>
          <a:prstGeom prst="rect">
            <a:avLst/>
          </a:prstGeom>
          <a:noFill/>
        </p:spPr>
        <p:txBody>
          <a:bodyPr wrap="square" rtlCol="0">
            <a:spAutoFit/>
          </a:bodyPr>
          <a:lstStyle/>
          <a:p>
            <a:r>
              <a:rPr lang="en-US">
                <a:latin typeface="Times New Roman" panose="02020603050405020304" pitchFamily="18" charset="0"/>
                <a:cs typeface="Times New Roman" panose="02020603050405020304" pitchFamily="18" charset="0"/>
              </a:rPr>
              <a:t>After</a:t>
            </a:r>
          </a:p>
        </p:txBody>
      </p:sp>
    </p:spTree>
    <p:extLst>
      <p:ext uri="{BB962C8B-B14F-4D97-AF65-F5344CB8AC3E}">
        <p14:creationId xmlns:p14="http://schemas.microsoft.com/office/powerpoint/2010/main" val="3666463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3.7: Modal</a:t>
            </a:r>
          </a:p>
        </p:txBody>
      </p:sp>
      <p:sp>
        <p:nvSpPr>
          <p:cNvPr id="3" name="Content Placeholder 2">
            <a:extLst>
              <a:ext uri="{FF2B5EF4-FFF2-40B4-BE49-F238E27FC236}">
                <a16:creationId xmlns:a16="http://schemas.microsoft.com/office/drawing/2014/main" id="{EC48A121-264F-40F6-8559-C586D173AEB7}"/>
              </a:ext>
            </a:extLst>
          </p:cNvPr>
          <p:cNvSpPr>
            <a:spLocks noGrp="1"/>
          </p:cNvSpPr>
          <p:nvPr>
            <p:ph idx="1"/>
          </p:nvPr>
        </p:nvSpPr>
        <p:spPr>
          <a:xfrm>
            <a:off x="838200" y="1602297"/>
            <a:ext cx="10515600" cy="4583055"/>
          </a:xfrm>
        </p:spPr>
        <p:txBody>
          <a:bodyPr>
            <a:normAutofit/>
          </a:bodyPr>
          <a:lstStyle/>
          <a:p>
            <a:pPr marL="0" indent="0">
              <a:buNone/>
            </a:pPr>
            <a:r>
              <a:rPr lang="en-US" sz="1600">
                <a:latin typeface="Times New Roman" panose="02020603050405020304" pitchFamily="18" charset="0"/>
                <a:cs typeface="Times New Roman" panose="02020603050405020304" pitchFamily="18" charset="0"/>
              </a:rPr>
              <a:t>											</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306B7530-1DA4-423C-9077-85FCE05D83E1}"/>
              </a:ext>
            </a:extLst>
          </p:cNvPr>
          <p:cNvPicPr>
            <a:picLocks noChangeAspect="1"/>
          </p:cNvPicPr>
          <p:nvPr/>
        </p:nvPicPr>
        <p:blipFill>
          <a:blip r:embed="rId2"/>
          <a:stretch>
            <a:fillRect/>
          </a:stretch>
        </p:blipFill>
        <p:spPr>
          <a:xfrm>
            <a:off x="645952" y="1602297"/>
            <a:ext cx="10526942" cy="4489322"/>
          </a:xfrm>
          <a:prstGeom prst="rect">
            <a:avLst/>
          </a:prstGeom>
        </p:spPr>
      </p:pic>
    </p:spTree>
    <p:extLst>
      <p:ext uri="{BB962C8B-B14F-4D97-AF65-F5344CB8AC3E}">
        <p14:creationId xmlns:p14="http://schemas.microsoft.com/office/powerpoint/2010/main" val="449683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a:xfrm>
            <a:off x="802696" y="-19100"/>
            <a:ext cx="10515600" cy="1325563"/>
          </a:xfrm>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3.8: Khoảng cách</a:t>
            </a:r>
          </a:p>
        </p:txBody>
      </p:sp>
      <p:pic>
        <p:nvPicPr>
          <p:cNvPr id="5" name="Picture 4">
            <a:extLst>
              <a:ext uri="{FF2B5EF4-FFF2-40B4-BE49-F238E27FC236}">
                <a16:creationId xmlns:a16="http://schemas.microsoft.com/office/drawing/2014/main" id="{EFDAC77D-8F2B-4B1D-9BDF-43A05D4D7C46}"/>
              </a:ext>
            </a:extLst>
          </p:cNvPr>
          <p:cNvPicPr>
            <a:picLocks noChangeAspect="1"/>
          </p:cNvPicPr>
          <p:nvPr/>
        </p:nvPicPr>
        <p:blipFill>
          <a:blip r:embed="rId2"/>
          <a:stretch>
            <a:fillRect/>
          </a:stretch>
        </p:blipFill>
        <p:spPr>
          <a:xfrm>
            <a:off x="802697" y="985051"/>
            <a:ext cx="4231066" cy="2665969"/>
          </a:xfrm>
          <a:prstGeom prst="rect">
            <a:avLst/>
          </a:prstGeom>
        </p:spPr>
      </p:pic>
      <p:pic>
        <p:nvPicPr>
          <p:cNvPr id="9" name="Picture 8">
            <a:extLst>
              <a:ext uri="{FF2B5EF4-FFF2-40B4-BE49-F238E27FC236}">
                <a16:creationId xmlns:a16="http://schemas.microsoft.com/office/drawing/2014/main" id="{C3F3CFE6-4760-47CE-BA78-C00C566C3E6A}"/>
              </a:ext>
            </a:extLst>
          </p:cNvPr>
          <p:cNvPicPr>
            <a:picLocks noChangeAspect="1"/>
          </p:cNvPicPr>
          <p:nvPr/>
        </p:nvPicPr>
        <p:blipFill>
          <a:blip r:embed="rId3"/>
          <a:stretch>
            <a:fillRect/>
          </a:stretch>
        </p:blipFill>
        <p:spPr>
          <a:xfrm>
            <a:off x="6724955" y="985051"/>
            <a:ext cx="4231067" cy="2650522"/>
          </a:xfrm>
          <a:prstGeom prst="rect">
            <a:avLst/>
          </a:prstGeom>
        </p:spPr>
      </p:pic>
      <p:pic>
        <p:nvPicPr>
          <p:cNvPr id="11" name="Picture 10">
            <a:extLst>
              <a:ext uri="{FF2B5EF4-FFF2-40B4-BE49-F238E27FC236}">
                <a16:creationId xmlns:a16="http://schemas.microsoft.com/office/drawing/2014/main" id="{0ADD1893-531A-4B95-9186-D69841B7B586}"/>
              </a:ext>
            </a:extLst>
          </p:cNvPr>
          <p:cNvPicPr>
            <a:picLocks noChangeAspect="1"/>
          </p:cNvPicPr>
          <p:nvPr/>
        </p:nvPicPr>
        <p:blipFill>
          <a:blip r:embed="rId4"/>
          <a:stretch>
            <a:fillRect/>
          </a:stretch>
        </p:blipFill>
        <p:spPr>
          <a:xfrm>
            <a:off x="802695" y="3796762"/>
            <a:ext cx="4231067" cy="2977914"/>
          </a:xfrm>
          <a:prstGeom prst="rect">
            <a:avLst/>
          </a:prstGeom>
        </p:spPr>
      </p:pic>
      <p:pic>
        <p:nvPicPr>
          <p:cNvPr id="13" name="Picture 12">
            <a:extLst>
              <a:ext uri="{FF2B5EF4-FFF2-40B4-BE49-F238E27FC236}">
                <a16:creationId xmlns:a16="http://schemas.microsoft.com/office/drawing/2014/main" id="{A4A01E75-B799-44E4-82E2-38A3A3DAD0A6}"/>
              </a:ext>
            </a:extLst>
          </p:cNvPr>
          <p:cNvPicPr>
            <a:picLocks noChangeAspect="1"/>
          </p:cNvPicPr>
          <p:nvPr/>
        </p:nvPicPr>
        <p:blipFill>
          <a:blip r:embed="rId5"/>
          <a:stretch>
            <a:fillRect/>
          </a:stretch>
        </p:blipFill>
        <p:spPr>
          <a:xfrm>
            <a:off x="6724955" y="3829640"/>
            <a:ext cx="4231067" cy="2912157"/>
          </a:xfrm>
          <a:prstGeom prst="rect">
            <a:avLst/>
          </a:prstGeom>
        </p:spPr>
      </p:pic>
    </p:spTree>
    <p:extLst>
      <p:ext uri="{BB962C8B-B14F-4D97-AF65-F5344CB8AC3E}">
        <p14:creationId xmlns:p14="http://schemas.microsoft.com/office/powerpoint/2010/main" val="34371792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C6CAB-C163-48BD-8F37-5452559D1DC9}"/>
              </a:ext>
            </a:extLst>
          </p:cNvPr>
          <p:cNvSpPr>
            <a:spLocks noGrp="1"/>
          </p:cNvSpPr>
          <p:nvPr>
            <p:ph type="title"/>
          </p:nvPr>
        </p:nvSpPr>
        <p:spPr>
          <a:xfrm>
            <a:off x="838200" y="9866"/>
            <a:ext cx="10515600" cy="1325563"/>
          </a:xfrm>
        </p:spPr>
        <p:txBody>
          <a:bodyPr/>
          <a:lstStyle/>
          <a:p>
            <a:r>
              <a:rPr lang="en-US">
                <a:solidFill>
                  <a:schemeClr val="accent1">
                    <a:lumMod val="75000"/>
                  </a:schemeClr>
                </a:solidFill>
                <a:latin typeface="Times New Roman" panose="02020603050405020304" pitchFamily="18" charset="0"/>
                <a:cs typeface="Times New Roman" panose="02020603050405020304" pitchFamily="18" charset="0"/>
              </a:rPr>
              <a:t>4. Chi tiết form group</a:t>
            </a:r>
          </a:p>
        </p:txBody>
      </p:sp>
      <p:sp>
        <p:nvSpPr>
          <p:cNvPr id="3" name="Content Placeholder 2">
            <a:extLst>
              <a:ext uri="{FF2B5EF4-FFF2-40B4-BE49-F238E27FC236}">
                <a16:creationId xmlns:a16="http://schemas.microsoft.com/office/drawing/2014/main" id="{EC48A121-264F-40F6-8559-C586D173AEB7}"/>
              </a:ext>
            </a:extLst>
          </p:cNvPr>
          <p:cNvSpPr>
            <a:spLocks noGrp="1"/>
          </p:cNvSpPr>
          <p:nvPr>
            <p:ph idx="1"/>
          </p:nvPr>
        </p:nvSpPr>
        <p:spPr>
          <a:xfrm>
            <a:off x="838200" y="1107347"/>
            <a:ext cx="10515600" cy="5078005"/>
          </a:xfrm>
        </p:spPr>
        <p:txBody>
          <a:bodyPr>
            <a:normAutofit/>
          </a:bodyPr>
          <a:lstStyle/>
          <a:p>
            <a:pPr marL="0" indent="0">
              <a:buNone/>
            </a:pPr>
            <a:r>
              <a:rPr lang="en-US" sz="1600">
                <a:latin typeface="Times New Roman" panose="02020603050405020304" pitchFamily="18" charset="0"/>
                <a:cs typeface="Times New Roman" panose="02020603050405020304" pitchFamily="18" charset="0"/>
              </a:rPr>
              <a:t>											</a:t>
            </a: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endParaRPr lang="en-US" sz="1600">
              <a:latin typeface="Times New Roman" panose="02020603050405020304" pitchFamily="18" charset="0"/>
              <a:cs typeface="Times New Roman" panose="02020603050405020304" pitchFamily="18" charset="0"/>
            </a:endParaRPr>
          </a:p>
          <a:p>
            <a:pPr marL="0" indent="0">
              <a:buNone/>
            </a:pPr>
            <a:r>
              <a:rPr lang="en-US" sz="1600">
                <a:latin typeface="Times New Roman" panose="02020603050405020304" pitchFamily="18" charset="0"/>
                <a:cs typeface="Times New Roman" panose="02020603050405020304" pitchFamily="18" charset="0"/>
              </a:rPr>
              <a:t>         </a:t>
            </a:r>
          </a:p>
        </p:txBody>
      </p:sp>
      <p:pic>
        <p:nvPicPr>
          <p:cNvPr id="5" name="Picture 4">
            <a:extLst>
              <a:ext uri="{FF2B5EF4-FFF2-40B4-BE49-F238E27FC236}">
                <a16:creationId xmlns:a16="http://schemas.microsoft.com/office/drawing/2014/main" id="{A27CA5F6-820C-46DB-92D5-AF002DBBBB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8237" y="1349606"/>
            <a:ext cx="7487315" cy="5293199"/>
          </a:xfrm>
          <a:prstGeom prst="rect">
            <a:avLst/>
          </a:prstGeom>
        </p:spPr>
      </p:pic>
    </p:spTree>
    <p:extLst>
      <p:ext uri="{BB962C8B-B14F-4D97-AF65-F5344CB8AC3E}">
        <p14:creationId xmlns:p14="http://schemas.microsoft.com/office/powerpoint/2010/main" val="5704543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1305</TotalTime>
  <Words>616</Words>
  <Application>Microsoft Office PowerPoint</Application>
  <PresentationFormat>Widescreen</PresentationFormat>
  <Paragraphs>125</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Calibri Light</vt:lpstr>
      <vt:lpstr>Times New Roman</vt:lpstr>
      <vt:lpstr>Office Theme</vt:lpstr>
      <vt:lpstr>Báo cáo kế hoạch lên khung giao diện </vt:lpstr>
      <vt:lpstr>Định nghĩa 1 giao diện chuẩn Fluent</vt:lpstr>
      <vt:lpstr>1. Bộ khung</vt:lpstr>
      <vt:lpstr>2. Bố cục chi tiết  2.1 Menu ngang</vt:lpstr>
      <vt:lpstr>2. Bố cục chi tiết  2.2 Menu dọc</vt:lpstr>
      <vt:lpstr>2. Bố cục chi tiết  2.3 Header ( nếu cần thiết )</vt:lpstr>
      <vt:lpstr>2. Bố cục chi tiết  2.4 Body</vt:lpstr>
      <vt:lpstr>2. Bố cục chi tiết  2.5 Modal</vt:lpstr>
      <vt:lpstr>3. Chi tiết các hiệu ứng </vt:lpstr>
      <vt:lpstr>3.1: Hiệu ứng đổ bóng</vt:lpstr>
      <vt:lpstr>3.2: Hiệu ứng phóng to thu nhỏ</vt:lpstr>
      <vt:lpstr>3.3: Hover</vt:lpstr>
      <vt:lpstr>3.4: Loading</vt:lpstr>
      <vt:lpstr>3.5: Độ trong suốt</vt:lpstr>
      <vt:lpstr>3.6: Click chuột</vt:lpstr>
      <vt:lpstr>3.7: Modal</vt:lpstr>
      <vt:lpstr>3.8: Khoảng cách</vt:lpstr>
      <vt:lpstr>4. Chi tiết form group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quy định bộ thư viện cho các dự án HOPLONGTECH</dc:title>
  <dc:creator>Nguyễn Minh Hiếu</dc:creator>
  <cp:lastModifiedBy>Nguyễn Minh Hiếu</cp:lastModifiedBy>
  <cp:revision>18</cp:revision>
  <dcterms:created xsi:type="dcterms:W3CDTF">2020-08-23T06:14:40Z</dcterms:created>
  <dcterms:modified xsi:type="dcterms:W3CDTF">2020-08-24T11:44:20Z</dcterms:modified>
</cp:coreProperties>
</file>